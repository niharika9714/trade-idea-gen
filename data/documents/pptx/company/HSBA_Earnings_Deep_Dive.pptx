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HSBC — Earnings Deep Dive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Synthetic Investment Research | Prototype Dataset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HSBC (HSBA) — synthetic research case</a:t>
            </a:r>
          </a:p>
          <a:p>
            <a:pPr/>
            <a:r>
              <a:t>Latest NIM: 1.64%</a:t>
            </a:r>
          </a:p>
          <a:p>
            <a:pPr/>
            <a:r>
              <a:t>Latest ROE: 11.40%</a:t>
            </a:r>
          </a:p>
          <a:p>
            <a:pPr/>
            <a:r>
              <a:t>CET1 ratio: 14.64%</a:t>
            </a:r>
          </a:p>
          <a:p>
            <a:pPr/>
            <a:r>
              <a:t>P/B: 1.23x</a:t>
            </a:r>
          </a:p>
          <a:p>
            <a:pPr/>
            <a:r>
              <a:t>All numbers are synthetic.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Historical Share Performance</a:t>
            </a:r>
          </a:p>
        </p:txBody>
      </p:sp>
      <p:pic>
        <p:nvPicPr>
          <p:cNvPr id="3" name="Picture 2" descr="HSBA_price_hi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88720"/>
            <a:ext cx="8046720" cy="386242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03504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Source: synthetic market.db / daily_prices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NIM and ROE</a:t>
            </a:r>
          </a:p>
        </p:txBody>
      </p:sp>
      <p:pic>
        <p:nvPicPr>
          <p:cNvPr id="3" name="Picture 2" descr="HSBA_nim_ro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88720"/>
            <a:ext cx="8046720" cy="4023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03504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Source: synthetic market.db / fundamentals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Trading Activity</a:t>
            </a:r>
          </a:p>
        </p:txBody>
      </p:sp>
      <p:pic>
        <p:nvPicPr>
          <p:cNvPr id="3" name="Picture 2" descr="HSBA_volu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88720"/>
            <a:ext cx="8046720" cy="32186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03504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Event dates contain synthetic volume spikes.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Fundamental Snapshot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8700"/>
                <a:gridCol w="1028700"/>
                <a:gridCol w="1028700"/>
                <a:gridCol w="1028700"/>
                <a:gridCol w="1028700"/>
                <a:gridCol w="1028700"/>
                <a:gridCol w="1028700"/>
                <a:gridCol w="1028700"/>
              </a:tblGrid>
              <a:tr h="685800">
                <a:tc>
                  <a:txBody>
                    <a:bodyPr/>
                    <a:lstStyle/>
                    <a:p>
                      <a:r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ROE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CET1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NPL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P/E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P/B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2025-02-14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64362.9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11.535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14.451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2.04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9.932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1.173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2025-05-09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67678.92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11.436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14.689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1.948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9.997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1.241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2025-08-08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65895.32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1.797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11.387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14.694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1.964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9.981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1.19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2025-11-06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67850.79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11.57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14.539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1.947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9.641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1.396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2026-02-13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70440.11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1.635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11.398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14.642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2.045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9.812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1.226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Historical Event 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EVENT-001 — FY2023 earnings</a:t>
            </a:r>
          </a:p>
          <a:p>
            <a:pPr/>
            <a:r>
              <a:t>EVENT-002 — Q1 2024 earnings</a:t>
            </a:r>
          </a:p>
          <a:p>
            <a:pPr/>
            <a:r>
              <a:t>EVENT-003 — Q2 2024 earnings</a:t>
            </a:r>
          </a:p>
          <a:p>
            <a:pPr/>
            <a:r>
              <a:t>EVENT-004 — Q3 2024 earnings</a:t>
            </a:r>
          </a:p>
          <a:p>
            <a:pPr/>
            <a:r>
              <a:t>EVENT-005 — FY2024 earnings</a:t>
            </a:r>
          </a:p>
          <a:p>
            <a:pPr/>
            <a:r>
              <a:t>EVENT-006 — Q1 2025 earnings</a:t>
            </a:r>
          </a:p>
          <a:p>
            <a:pPr/>
            <a:r>
              <a:t>EVENT-007 — Q2 2025 earnings</a:t>
            </a:r>
          </a:p>
          <a:p>
            <a:pPr/>
            <a:r>
              <a:t>EVENT-008 — Q3 2025 earnings</a:t>
            </a:r>
          </a:p>
          <a:p>
            <a:pPr/>
            <a:r>
              <a:t>EVENT-009 — FY2025 earnings</a:t>
            </a:r>
          </a:p>
          <a:p>
            <a:pPr/>
            <a:r>
              <a:t>EVENT-010 — synthetic monetary-policy shock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Was the post-earnings share-price movement consistent with fundamentals?</a:t>
            </a:r>
          </a:p>
          <a:p>
            <a:pPr/>
            <a:r>
              <a:t>How did trading volume change around the event?</a:t>
            </a:r>
          </a:p>
          <a:p>
            <a:pPr/>
            <a:r>
              <a:t>How does valuation compare with sector peers?</a:t>
            </a:r>
          </a:p>
          <a:p>
            <a:pPr/>
            <a:r>
              <a:t>Did NIM and ROE trends support the market reaction?</a:t>
            </a:r>
          </a:p>
          <a:p>
            <a:pPr/>
            <a:r>
              <a:t>What additional evidence should an investment agent retrieve?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Provenance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Prices → market.db / daily_prices</a:t>
            </a:r>
          </a:p>
          <a:p>
            <a:pPr/>
            <a:r>
              <a:t>Volume → market.db / daily_volume</a:t>
            </a:r>
          </a:p>
          <a:p>
            <a:pPr/>
            <a:r>
              <a:t>Fundamentals → market.db / fundamentals</a:t>
            </a:r>
          </a:p>
          <a:p>
            <a:pPr/>
            <a:r>
              <a:t>Events → data/reference/events.json</a:t>
            </a:r>
          </a:p>
          <a:p>
            <a:pPr/>
            <a:r>
              <a:t>Document status → synthetic</a:t>
            </a:r>
          </a:p>
          <a:p>
            <a:pPr/>
            <a:r>
              <a:t>Future versions will link this presentation to Outlook, news XML and API evidence.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