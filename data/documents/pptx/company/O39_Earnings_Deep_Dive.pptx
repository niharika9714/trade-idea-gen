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OCBC — Earnings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Investment Research | Prototype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OCBC (O39) — synthetic research case</a:t>
            </a:r>
          </a:p>
          <a:p>
            <a:pPr/>
            <a:r>
              <a:t>Latest NIM: 2.17%</a:t>
            </a:r>
          </a:p>
          <a:p>
            <a:pPr/>
            <a:r>
              <a:t>Latest ROE: 12.78%</a:t>
            </a:r>
          </a:p>
          <a:p>
            <a:pPr/>
            <a:r>
              <a:t>CET1 ratio: 15.64%</a:t>
            </a:r>
          </a:p>
          <a:p>
            <a:pPr/>
            <a:r>
              <a:t>P/B: 1.39x</a:t>
            </a:r>
          </a:p>
          <a:p>
            <a:pPr/>
            <a:r>
              <a:t>All numbers are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Share Performance</a:t>
            </a:r>
          </a:p>
        </p:txBody>
      </p:sp>
      <p:pic>
        <p:nvPicPr>
          <p:cNvPr id="3" name="Picture 2" descr="O39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8624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daily_prices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NIM and ROE</a:t>
            </a:r>
          </a:p>
        </p:txBody>
      </p:sp>
      <p:pic>
        <p:nvPicPr>
          <p:cNvPr id="3" name="Picture 2" descr="O39_nim_r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Activity</a:t>
            </a:r>
          </a:p>
        </p:txBody>
      </p:sp>
      <p:pic>
        <p:nvPicPr>
          <p:cNvPr id="3" name="Picture 2" descr="O39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dates contain synthetic volume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Fundamental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858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1.171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15497.08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1.328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15750.74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1.291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15490.11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1.275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16471.55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Event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EVENT-001 — FY2023 earnings</a:t>
            </a:r>
          </a:p>
          <a:p>
            <a:pPr/>
            <a:r>
              <a:t>EVENT-002 — Q1 2024 earnings</a:t>
            </a:r>
          </a:p>
          <a:p>
            <a:pPr/>
            <a:r>
              <a:t>EVENT-003 — Q2 2024 earnings</a:t>
            </a:r>
          </a:p>
          <a:p>
            <a:pPr/>
            <a:r>
              <a:t>EVENT-004 — Q3 2024 earnings</a:t>
            </a:r>
          </a:p>
          <a:p>
            <a:pPr/>
            <a:r>
              <a:t>EVENT-005 — FY2024 earnings</a:t>
            </a:r>
          </a:p>
          <a:p>
            <a:pPr/>
            <a:r>
              <a:t>EVENT-006 — Q1 2025 earnings</a:t>
            </a:r>
          </a:p>
          <a:p>
            <a:pPr/>
            <a:r>
              <a:t>EVENT-007 — Q2 2025 earnings</a:t>
            </a:r>
          </a:p>
          <a:p>
            <a:pPr/>
            <a:r>
              <a:t>EVENT-008 — Q3 2025 earnings</a:t>
            </a:r>
          </a:p>
          <a:p>
            <a:pPr/>
            <a:r>
              <a:t>EVENT-009 — FY2025 earnings</a:t>
            </a:r>
          </a:p>
          <a:p>
            <a:pPr/>
            <a:r>
              <a:t>EVENT-010 — synthetic monetary-policy shock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the post-earnings share-price movement consistent with fundamentals?</a:t>
            </a:r>
          </a:p>
          <a:p>
            <a:pPr/>
            <a:r>
              <a:t>How did trading volume change around the event?</a:t>
            </a:r>
          </a:p>
          <a:p>
            <a:pPr/>
            <a:r>
              <a:t>How does valuation compare with sector peers?</a:t>
            </a:r>
          </a:p>
          <a:p>
            <a:pPr/>
            <a:r>
              <a:t>Did NIM and ROE trends support the market reaction?</a:t>
            </a:r>
          </a:p>
          <a:p>
            <a:pPr/>
            <a:r>
              <a:t>What additional evidence should an investment agent retrieve?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Prices → market.db / daily_prices</a:t>
            </a:r>
          </a:p>
          <a:p>
            <a:pPr/>
            <a:r>
              <a:t>Volume → market.db / daily_volume</a:t>
            </a:r>
          </a:p>
          <a:p>
            <a:pPr/>
            <a:r>
              <a:t>Fundamentals → market.db / fundamentals</a:t>
            </a:r>
          </a:p>
          <a:p>
            <a:pPr/>
            <a:r>
              <a:t>Events → data/reference/events.json</a:t>
            </a:r>
          </a:p>
          <a:p>
            <a:pPr/>
            <a:r>
              <a:t>Document status → synthetic</a:t>
            </a:r>
          </a:p>
          <a:p>
            <a:pPr/>
            <a:r>
              <a:t>Future versions will link this presentation to Outlook, news XML and API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